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41d4aee05d438f" /><Relationship Type="http://schemas.openxmlformats.org/officeDocument/2006/relationships/extended-properties" Target="/docProps/app.xml" Id="Rd12f028aeaf34931" /><Relationship Type="http://schemas.openxmlformats.org/officeDocument/2006/relationships/officeDocument" Target="/ppt/presentation.xml" Id="R7bb26c64de26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c961577e4405f"/>
  </p:sldMasterIdLst>
  <p:notesMasterIdLst>
    <p:notesMasterId xmlns:r="http://schemas.openxmlformats.org/officeDocument/2006/relationships" r:id="R010b2720e943446f"/>
  </p:notesMasterIdLst>
  <p:sldIdLst>
    <p:sldId xmlns:r="http://schemas.openxmlformats.org/officeDocument/2006/relationships" id="256" r:id="Rc19f111abd27492a"/>
    <p:sldId xmlns:r="http://schemas.openxmlformats.org/officeDocument/2006/relationships" id="257" r:id="Rba70e02bd233491c"/>
    <p:sldId xmlns:r="http://schemas.openxmlformats.org/officeDocument/2006/relationships" id="258" r:id="R7592dc40be544df3"/>
    <p:sldId xmlns:r="http://schemas.openxmlformats.org/officeDocument/2006/relationships" id="259" r:id="R7f7677ec0b114b05"/>
    <p:sldId xmlns:r="http://schemas.openxmlformats.org/officeDocument/2006/relationships" id="260" r:id="R66ea58e9f8654f8e"/>
    <p:sldId xmlns:r="http://schemas.openxmlformats.org/officeDocument/2006/relationships" id="261" r:id="R43fabf361a65465c"/>
    <p:sldId xmlns:r="http://schemas.openxmlformats.org/officeDocument/2006/relationships" id="262" r:id="R1f6270f78fd04a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c73e540ed45c6" /><Relationship Type="http://schemas.openxmlformats.org/officeDocument/2006/relationships/slideMaster" Target="/ppt/slideMasters/slideMaster1.xml" Id="Rdcbc961577e4405f" /><Relationship Type="http://schemas.openxmlformats.org/officeDocument/2006/relationships/notesMaster" Target="/ppt/notesMasters/notesMaster1.xml" Id="R010b2720e943446f" /><Relationship Type="http://schemas.openxmlformats.org/officeDocument/2006/relationships/presProps" Target="/ppt/presProps.xml" Id="R9f54bda06b854428" /><Relationship Type="http://schemas.openxmlformats.org/officeDocument/2006/relationships/tableStyles" Target="/ppt/tableStyles.xml" Id="Rf93a0793d6024fac" /><Relationship Type="http://schemas.openxmlformats.org/officeDocument/2006/relationships/slide" Target="/ppt/slides/slide1.xml" Id="Rc19f111abd27492a" /><Relationship Type="http://schemas.openxmlformats.org/officeDocument/2006/relationships/slide" Target="/ppt/slides/slide2.xml" Id="Rba70e02bd233491c" /><Relationship Type="http://schemas.openxmlformats.org/officeDocument/2006/relationships/slide" Target="/ppt/slides/slide3.xml" Id="R7592dc40be544df3" /><Relationship Type="http://schemas.openxmlformats.org/officeDocument/2006/relationships/slide" Target="/ppt/slides/slide4.xml" Id="R7f7677ec0b114b05" /><Relationship Type="http://schemas.openxmlformats.org/officeDocument/2006/relationships/slide" Target="/ppt/slides/slide5.xml" Id="R66ea58e9f8654f8e" /><Relationship Type="http://schemas.openxmlformats.org/officeDocument/2006/relationships/slide" Target="/ppt/slides/slide6.xml" Id="R43fabf361a65465c" /><Relationship Type="http://schemas.openxmlformats.org/officeDocument/2006/relationships/slide" Target="/ppt/slides/slide7.xml" Id="R1f6270f78fd0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8cddcaf96f4f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49f87f116e4810" /><Relationship Type="http://schemas.openxmlformats.org/officeDocument/2006/relationships/notesMaster" Target="/ppt/notesMasters/notesMaster1.xml" Id="R3248dba4747c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39778d6edb49b7" /><Relationship Type="http://schemas.openxmlformats.org/officeDocument/2006/relationships/notesMaster" Target="/ppt/notesMasters/notesMaster1.xml" Id="Radd12246beec4d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ead40eb8c47d7" /><Relationship Type="http://schemas.openxmlformats.org/officeDocument/2006/relationships/notesMaster" Target="/ppt/notesMasters/notesMaster1.xml" Id="R62d00b768b44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df839f66274b63" /><Relationship Type="http://schemas.openxmlformats.org/officeDocument/2006/relationships/notesMaster" Target="/ppt/notesMasters/notesMaster1.xml" Id="Rb5765c8c8fea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0edd2185cf4663" /><Relationship Type="http://schemas.openxmlformats.org/officeDocument/2006/relationships/notesMaster" Target="/ppt/notesMasters/notesMaster1.xml" Id="Rc9c803217a76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17cdf623e440bd" /><Relationship Type="http://schemas.openxmlformats.org/officeDocument/2006/relationships/notesMaster" Target="/ppt/notesMasters/notesMaster1.xml" Id="Rf127f17243b84d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e1f21199042e6" /><Relationship Type="http://schemas.openxmlformats.org/officeDocument/2006/relationships/notesMaster" Target="/ppt/notesMasters/notesMaster1.xml" Id="R8d03cbac7b6f40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الاسم الرسمي وموضوع العرض التجاري</a:t>
            </a:r>
          </a:p>
          <a:p xmlns:a="http://schemas.openxmlformats.org/drawingml/2006/main">
            <a:r>
              <a:t>- /Users/him.art/Documents/Codex/2026-08-28/new-chat/tmp/ehr-sponsorship/build/assets/cover-horse.jpg — الأصل البصري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قيم الرعاية الأربع</a:t>
            </a:r>
          </a:p>
          <a:p xmlns:a="http://schemas.openxmlformats.org/drawingml/2006/main">
            <a:r>
              <a:t>- /Users/him.art/Documents/Codex/2026-08-28/new-chat/tmp/ehr-sponsorship/build/assets/sponsor-value.jpg — الأصل البصري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تسلسل تجربة المشاركة، عدم الحاجة إلى تطبيق، وحد الثمانية متسابقين</a:t>
            </a:r>
          </a:p>
          <a:p xmlns:a="http://schemas.openxmlformats.org/drawingml/2006/main">
            <a:r>
              <a:t>- /Users/him.art/Documents/Codex/2026-08-28/new-chat/tmp/ehr-sponsorship/build/assets/experience.jpg — الأصل البصري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مدة التشغيل، الأيام المحتملة، الجولات اليومية، فرص المشاركة، والسياق والإخلاء التقديري</a:t>
            </a:r>
          </a:p>
          <a:p xmlns:a="http://schemas.openxmlformats.org/drawingml/2006/main">
            <a:r>
              <a:t>- /Users/him.art/Documents/Codex/2026-08-28/new-chat/tmp/ehr-sponsorship/build/assets/venue-aerial.png — الأصل البصري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أسماء الباقات والأسعار والمزايا وضريبة القيمة المضافة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مسؤوليات فريق المشروع والأكاديمية والشرط الكتابي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/Users/him.art/Documents/Codex/2026-08-28/new-chat/tmp/ehr-sponsorship/build/source-commercial-offer.pptx — خطوات التفعيل، أولوية الرياض، وبيانات التواصل</a:t>
            </a:r>
          </a:p>
          <a:p xmlns:a="http://schemas.openxmlformats.org/drawingml/2006/main">
            <a:r>
              <a:t>- /Users/him.art/Documents/Codex/2026-08-28/new-chat/tmp/ehr-sponsorship/build/assets/closing-venue.png — الأصل البصري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31946e6c946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bc34c651c04232" /><Relationship Type="http://schemas.openxmlformats.org/officeDocument/2006/relationships/slideLayout" Target="/ppt/slideLayouts/slideLayout1.xml" Id="Red3fc4f0d45648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fc4f0d45648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dd1edaf5b4287" /><Relationship Type="http://schemas.openxmlformats.org/officeDocument/2006/relationships/image" Target="/ppt/media/image.jpeg" Id="R0f6f95ff0bd74693" /><Relationship Type="http://schemas.openxmlformats.org/officeDocument/2006/relationships/notesSlide" Target="/ppt/notesSlides/notesSlide1.xml" Id="R81b55c9b3cdf4c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3b684fc714669" /><Relationship Type="http://schemas.openxmlformats.org/officeDocument/2006/relationships/image" Target="/ppt/media/image2.jpeg" Id="Ra1f355779a4b4f56" /><Relationship Type="http://schemas.openxmlformats.org/officeDocument/2006/relationships/notesSlide" Target="/ppt/notesSlides/notesSlide2.xml" Id="R20d2392e846542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015e5b974ca6" /><Relationship Type="http://schemas.openxmlformats.org/officeDocument/2006/relationships/image" Target="/ppt/media/image3.jpeg" Id="R189f48be4e33437f" /><Relationship Type="http://schemas.openxmlformats.org/officeDocument/2006/relationships/notesSlide" Target="/ppt/notesSlides/notesSlide3.xml" Id="Rc43b9ff24766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583b100914733" /><Relationship Type="http://schemas.openxmlformats.org/officeDocument/2006/relationships/image" Target="/ppt/media/image.png" Id="R4c354f065c1d422d" /><Relationship Type="http://schemas.openxmlformats.org/officeDocument/2006/relationships/notesSlide" Target="/ppt/notesSlides/notesSlide4.xml" Id="R3156454adf41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0e310d194030" /><Relationship Type="http://schemas.openxmlformats.org/officeDocument/2006/relationships/notesSlide" Target="/ppt/notesSlides/notesSlide5.xml" Id="R1c4b10583dea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911aab857467d" /><Relationship Type="http://schemas.openxmlformats.org/officeDocument/2006/relationships/notesSlide" Target="/ppt/notesSlides/notesSlide6.xml" Id="Ra8216574f7204c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6ccf432d64ca8" /><Relationship Type="http://schemas.openxmlformats.org/officeDocument/2006/relationships/image" Target="/ppt/media/image2.png" Id="R269f570ee1814542" /><Relationship Type="http://schemas.openxmlformats.org/officeDocument/2006/relationships/notesSlide" Target="/ppt/notesSlides/notesSlide7.xml" Id="Rbbe2a7039e774b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f95ff0bd746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75B31-6556-47DB-9877-747D2AD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30F">
                  <a:alpha val="98000"/>
                </a:srgbClr>
              </a:gs>
              <a:gs pos="39000">
                <a:srgbClr val="15130F">
                  <a:alpha val="85000"/>
                </a:srgbClr>
              </a:gs>
              <a:gs pos="72000">
                <a:srgbClr val="15130F">
                  <a:alpha val="28000"/>
                </a:srgbClr>
              </a:gs>
              <a:gs pos="100000">
                <a:srgbClr val="15130F">
                  <a:alpha val="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34ADE-5384-4863-A436-59F6EE0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905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2BB22-04B9-4CC5-B951-140264AC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1A16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C1A16A"/>
                </a:solidFill>
                <a:latin typeface="Qahwa Arabic"/>
                <a:ea typeface="Qahwa Arabic"/>
                <a:cs typeface="Qahwa Arabic"/>
              </a:rPr>
              <a:t>مقترح شراكة رعاية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91848-CD00-4305-ADE3-C379E01F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6685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48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48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سباق الخيل</a:t>
            </a:r>
          </a:p>
          <a:p xmlns:a="http://schemas.openxmlformats.org/drawingml/2006/main">
            <a:pPr algn="r">
              <a:lnSpc>
                <a:spcPct val="96000"/>
              </a:lnSpc>
              <a:buNone/>
              <a:defRPr sz="48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48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الإلكتروني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B70B8-9022-413D-92B5-27F371FB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3A604-9E18-41B3-90D9-F87E5936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63609-2DC6-4178-84E3-18BFAD9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75" b="1">
                <a:solidFill>
                  <a:srgbClr val="FFFDF8"/>
                </a:solidFill>
                <a:latin typeface="Qahwa Arabic"/>
                <a:ea typeface="Qahwa Arabic"/>
                <a:cs typeface="Qahwa Arabic"/>
              </a:defRPr>
            </a:pPr>
            <a:r>
              <a:rPr sz="2175" b="1">
                <a:solidFill>
                  <a:srgbClr val="FFFDF8"/>
                </a:solidFill>
                <a:latin typeface="Qahwa Arabic"/>
                <a:ea typeface="Qahwa Arabic"/>
                <a:cs typeface="Qahwa Arabic"/>
              </a:rPr>
              <a:t>رعاية تضع علامتكم داخل تجربة الخيل…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2175" b="1">
                <a:solidFill>
                  <a:srgbClr val="FFFDF8"/>
                </a:solidFill>
                <a:latin typeface="Qahwa Arabic"/>
                <a:ea typeface="Qahwa Arabic"/>
                <a:cs typeface="Qahwa Arabic"/>
              </a:defRPr>
            </a:pPr>
            <a:r>
              <a:rPr sz="2175" b="1">
                <a:solidFill>
                  <a:srgbClr val="FFFDF8"/>
                </a:solidFill>
                <a:latin typeface="Qahwa Arabic"/>
                <a:ea typeface="Qahwa Arabic"/>
                <a:cs typeface="Qahwa Arabic"/>
              </a:rPr>
              <a:t>وليس بجانبها.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79D6A-CCC7-4BDC-AB7B-824EE8DB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20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فرصة شراكة في تجربة رياضية تفاعلية</a:t>
            </a:r>
          </a:p>
        </p:txBody>
      </p:sp>
    </p:spTree>
    <p:extLst>
      <p:ext uri="{BB962C8B-B14F-4D97-AF65-F5344CB8AC3E}">
        <p14:creationId xmlns:p14="http://schemas.microsoft.com/office/powerpoint/2010/main" val="1632012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355779a4b4f56"/>
          <a:srcRect xmlns:a="http://schemas.openxmlformats.org/drawingml/2006/main" l="34845" t="0" r="348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BF13-5308-412A-8EE3-8B45408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30F">
                  <a:alpha val="12000"/>
                </a:srgbClr>
              </a:gs>
              <a:gs pos="100000">
                <a:srgbClr val="15130F">
                  <a:alpha val="2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61B21-4AFC-472B-8647-89CAC22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F73D5-5EA6-4657-9481-5B93E83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E867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8E867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9D09-F7D9-4739-A6C1-09D7BA0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E1B57-CE9B-480A-B474-B581A9C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E86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E8679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29A6D-FB1C-4D4A-BDEB-8A048782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763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6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36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علامتكم داخل السباق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4DC22-04C0-447A-8DC1-1FE6AB8F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811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425" b="0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أربع قيم تجعل الرعاية جزءًا من التجربة نفسها.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B7B5E-C96E-44F8-9CFE-5AD79E0F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DFB13-5B29-4009-800C-8ABD5C49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14984-92EE-4F2F-B183-DC3896C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جمهور مستهدف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39D12-D723-4F27-90BA-7D0148D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rPr>
              <a:t>جمهور قريب من عالم الخيل واهتمامات الأكاديمية.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C869C-73DE-4CAD-9207-068B818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64D7A-7BC6-4F4E-8564-5618464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BB3A2-8A7F-4846-8120-5C912A6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حضور داخل التجربة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DA002-0121-442D-B1B4-B3479746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rPr>
              <a:t>هوية الراعي ترتبط بالاختيار والانطلاق والنتائج.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0FC31-356A-49EB-ADB8-F848F94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7382A-3B55-44E6-A49F-5F122015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9549D-19E7-492B-93B0-B17FA8E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استقطاب مباشر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68AC9-1A10-41EE-A87C-85DAAD4B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1490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rPr>
              <a:t>ربط المشاركة بتجربة تعريفية أو تدريب أو زيارة أو حجز.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A552F-099A-45C7-87BB-6125A382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DBADA-61C8-4B9C-BD78-4A7236D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51671-EED3-4362-B582-AEEE54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815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87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نتائج قابلة للقياس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A892E-12EB-4BFD-88BD-A72511B9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rPr>
              <a:t>توثيق الجولات والنتائج وقياس فرص المشاركة أثناء التشغيل.</a:t>
            </a:r>
          </a:p>
        </p:txBody>
      </p:sp>
    </p:spTree>
    <p:extLst>
      <p:ext uri="{BB962C8B-B14F-4D97-AF65-F5344CB8AC3E}">
        <p14:creationId xmlns:p14="http://schemas.microsoft.com/office/powerpoint/2010/main" val="1244930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664D9-75FF-41E0-8B9A-F0722D7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9D4CD-9268-46B5-B483-D052E884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73D4A-998C-4E00-BFAD-176590DF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9E7E1-3CD7-41B6-95E7-18E7A28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19150"/>
            <a:ext cx="520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6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36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من الهاتف إلى خط النهاية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5A693-DAE7-456B-836F-90B13749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رحلة مشاركة تبدأ خلال ثوانٍ وتعود لجولة جديدة.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f48be4e33437f"/>
          <a:srcRect xmlns:a="http://schemas.openxmlformats.org/drawingml/2006/main" l="0" t="30601" r="0" b="30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2343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86496-9C14-4DC6-B294-08ACEE1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343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30F">
                  <a:alpha val="48000"/>
                </a:srgbClr>
              </a:gs>
              <a:gs pos="45000">
                <a:srgbClr val="15130F">
                  <a:alpha val="8000"/>
                </a:srgbClr>
              </a:gs>
              <a:gs pos="100000">
                <a:srgbClr val="15130F">
                  <a:alpha val="4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744D2-9191-48B3-BA42-DB540FC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81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A216F-E30B-40E1-9006-1DABADD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067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D9741-C682-42CF-B2DC-7CECCB24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387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مسح 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54516-9172-44C3-A5FF-0026695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276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7D701-6A8D-4EE8-941C-89E0E88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81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71DE3-E867-4B3C-B483-C483B1F4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67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73D95-73D3-4856-8370-C6A06DAB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387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الدخول من الهاتف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07C29-A145-4A5A-8392-1444A6B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76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B34FE-A609-4DB1-8D22-D380EB2C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C5798-61EC-4D10-9009-657CAAA3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67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D46E1-0830-449B-A6C6-C0A9A1D0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تسجيل الاسم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واختيار الخيل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0EC5C-8E47-46C9-95B5-3FF7B4C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276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93937-6745-431E-8B61-B97B13D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95558-3129-42FF-AE64-31E3C8F4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67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0403A-0C3C-4DE5-B114-F5D4828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التحكم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أثناء السباق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96524-89E3-4D4A-B5EA-894D39D8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76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541D7-B6A4-4982-AC9E-B91AA97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3C90B-63C3-4CCF-9836-5477F1AA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067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ADA82-73AB-4FB3-8DC3-20A4B2A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387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السباق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على الشاشة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4946B-8DDB-433D-87FC-5E3131E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276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392EE-3808-4ACF-8E72-08917701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C097A-1637-4F18-B19F-BE9A278E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67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0E0DD-1BE3-4FEF-AC0D-818336FB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إعلان النتيجة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89FD81-95AA-4D7F-A588-6BE96899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469871-AF20-4786-9223-AD1B463F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055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425" b="1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لا يحتاج المشارك إلى تحميل تطبيق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D45DDE-E6F5-40AB-887F-C5D06415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1A16A"/>
                </a:solidFill>
                <a:latin typeface="Qahwa Arabic"/>
                <a:ea typeface="Qahwa Arabic"/>
                <a:cs typeface="Qahwa Arabic"/>
              </a:defRPr>
            </a:pPr>
            <a:r>
              <a:rPr sz="1425" b="1">
                <a:solidFill>
                  <a:srgbClr val="C1A16A"/>
                </a:solidFill>
                <a:latin typeface="Qahwa Arabic"/>
                <a:ea typeface="Qahwa Arabic"/>
                <a:cs typeface="Qahwa Arabic"/>
              </a:rPr>
              <a:t>حتى 8 متسابقين في الجولة الواحدة</a:t>
            </a:r>
          </a:p>
        </p:txBody>
      </p:sp>
    </p:spTree>
    <p:extLst>
      <p:ext uri="{BB962C8B-B14F-4D97-AF65-F5344CB8AC3E}">
        <p14:creationId xmlns:p14="http://schemas.microsoft.com/office/powerpoint/2010/main" val="1129254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01CF9-03DD-4EA5-B408-42293A3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E867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8E867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C04B2-A9D9-4799-B601-E31BFD9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EBCEB-DC2A-42CA-900F-F8B3DB07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E86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E8679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54f065c1d422d"/>
          <a:srcRect xmlns:a="http://schemas.openxmlformats.org/drawingml/2006/main" l="33984" t="0" r="339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14DA-C290-4B49-A243-DD3B8B13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30F">
                  <a:alpha val="12000"/>
                </a:srgbClr>
              </a:gs>
              <a:gs pos="100000">
                <a:srgbClr val="15130F">
                  <a:alpha val="4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85237-2F29-4793-99A9-457053E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B63A6-51AC-4E04-BAF9-ADAA606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95350"/>
            <a:ext cx="670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35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35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حضور يتكرر</a:t>
            </a:r>
          </a:p>
          <a:p xmlns:a="http://schemas.openxmlformats.org/drawingml/2006/main">
            <a:pPr algn="r">
              <a:lnSpc>
                <a:spcPct val="98000"/>
              </a:lnSpc>
              <a:buNone/>
              <a:defRPr sz="35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35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طوال الفعالية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1333D-B858-4C8D-927F-ED4A0FF7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نطاق تشغيل مقترح يخلق فرص مشاركة متكررة.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28D0E-69B5-4D28-8B68-C6DB6A4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2D443-96CE-4FB2-8CE4-726E39AC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>
                <a:solidFill>
                  <a:srgbClr val="15130F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15130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E82A1-8B44-4EF9-9274-B2BCDF6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أسابيع تشغيل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A8D94-5780-4771-89AE-73B8FDA4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F33EE-0EBA-47BC-8720-48ACD40F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>
                <a:solidFill>
                  <a:srgbClr val="15130F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15130F"/>
                </a:solidFill>
                <a:latin typeface="Avenir Next"/>
                <a:ea typeface="Avenir Next"/>
                <a:cs typeface="Avenir Next"/>
              </a:rPr>
              <a:t>9 + 2*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D1926-5B15-45C9-8E47-382C040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أيام محتملة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3BB96-AA31-4904-95AA-1988D50B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EE049-F3B5-4777-9044-6A01657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>
                <a:solidFill>
                  <a:srgbClr val="15130F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15130F"/>
                </a:solidFill>
                <a:latin typeface="Avenir Next"/>
                <a:ea typeface="Avenir Next"/>
                <a:cs typeface="Avenir Next"/>
              </a:rPr>
              <a:t>3–5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A9319-78C4-4FD1-A6FA-ECC2A5F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جولات يوميًا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8545C-E207-4241-9E57-B81532F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6D01C-CCED-41CB-ACB6-34ADE68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434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4372C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24372C"/>
                </a:solidFill>
                <a:latin typeface="Avenir Next"/>
                <a:ea typeface="Avenir Next"/>
                <a:cs typeface="Avenir Next"/>
              </a:rPr>
              <a:t>216–440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1AA9C-4353-4907-9DA7-21AF643F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فرصة مشاركة مباشرة تقديريًا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A2982-B441-46E8-9BE6-3AFCFDCE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197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00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يتزامن التشغيل المقترح مع الخميس للحفلات، والجمعة والسبت لسباقات الخيل في ميدان الملك خالد بالطائف.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28F2D-5ABF-40CE-8C94-758A067E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153150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A6EE9-C1B0-4939-ACB9-FF258D7B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86500"/>
            <a:ext cx="670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38" b="0">
                <a:solidFill>
                  <a:srgbClr val="8E8679"/>
                </a:solidFill>
                <a:latin typeface="Qahwa Arabic"/>
                <a:ea typeface="Qahwa Arabic"/>
                <a:cs typeface="Qahwa Arabic"/>
              </a:defRPr>
            </a:pPr>
            <a:r>
              <a:rPr sz="938" b="0">
                <a:solidFill>
                  <a:srgbClr val="8E8679"/>
                </a:solidFill>
                <a:latin typeface="Qahwa Arabic"/>
                <a:ea typeface="Qahwa Arabic"/>
                <a:cs typeface="Qahwa Arabic"/>
              </a:rPr>
              <a:t>النطاق محسوب على أساس 8 متسابقين للجولة، واليومان الإضافيان مرتبطان بتأكيد برنامج إجازة اليوم الوطني، والأرقام لا تمثل عدد مشاركين فريدين.</a:t>
            </a:r>
          </a:p>
        </p:txBody>
      </p:sp>
    </p:spTree>
    <p:extLst>
      <p:ext uri="{BB962C8B-B14F-4D97-AF65-F5344CB8AC3E}">
        <p14:creationId xmlns:p14="http://schemas.microsoft.com/office/powerpoint/2010/main" val="358299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CA6B15-02A4-41A3-9915-24BE2B34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C64EF-AA20-42AE-941B-5D95D23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D8324-09FC-4399-870D-8F6B8FC6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558DD-A1BA-40F8-A416-5C736F3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81050"/>
            <a:ext cx="573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6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36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ثلاثة مستويات للشراكة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C6864-AE2B-46A6-B5C1-7AA6A84E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اختر مستوى الحضور المناسب لنطاق التفعيل.</a:t>
            </a:r>
          </a:p>
        </p:txBody>
      </p:sp>
      <p:sp>
        <p:nvSpPr>
          <p:cNvPr id="6" name="package-1">
            <a:extLst xmlns:a="http://schemas.openxmlformats.org/drawingml/2006/main">
              <a:ext uri="{FF2B5EF4-FFF2-40B4-BE49-F238E27FC236}">
                <a16:creationId xmlns:a16="http://schemas.microsoft.com/office/drawing/2014/main" id="{00D65614-8DFE-4B65-B2BC-286F097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505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ckage-2">
            <a:extLst xmlns:a="http://schemas.openxmlformats.org/drawingml/2006/main">
              <a:ext uri="{FF2B5EF4-FFF2-40B4-BE49-F238E27FC236}">
                <a16:creationId xmlns:a16="http://schemas.microsoft.com/office/drawing/2014/main" id="{0196A582-F1A3-435C-9532-EC015C29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3505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ckage-3">
            <a:extLst xmlns:a="http://schemas.openxmlformats.org/drawingml/2006/main">
              <a:ext uri="{FF2B5EF4-FFF2-40B4-BE49-F238E27FC236}">
                <a16:creationId xmlns:a16="http://schemas.microsoft.com/office/drawing/2014/main" id="{7D6E0610-C503-45F3-B835-151E2AA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505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21281-5323-452F-A92B-652B8A6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339C9-6D87-49AC-A19E-10A96FE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F036A-2B60-40C5-81B6-AC68C9E6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0EA52-7E83-4A74-A49D-27EC259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C1344-C8C2-48B2-A5F8-A8305ED9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2025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الشراكة التفاعلية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58D81-D859-40BE-96EB-7A9CEFE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70,000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FAE00-F660-4007-9E8F-C4EEE801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ريال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B135A-8C2F-478E-BF64-A439034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رعاية اللعبة في ميدان الملك خالد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84E11-1BB9-47EE-9C8F-4A09F6B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BEBA6-A83A-488E-AB6B-42B0A97A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648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92C54-6F39-420D-BE9C-5CBF67ED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حضور هوية الراعي داخل شاشات اللعبة والنتائج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7C288-E588-41F8-A240-BBA5ECB6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435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445F9-232B-4D85-AC49-E2B5460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رعاية التجربة خلال النطاق التشغيلي المتفق عليه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DB969-B6F4-4A19-8385-D435E23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6388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55899-727C-4370-B075-CF126F10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فرص محتوى وقياس الجولات والمشاركات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DE778-A859-4E51-B83D-EEFA026C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41E2F-6074-46BC-87AE-2303FE1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2025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شراكة البطولة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E2E38-28F8-4BF7-9E25-DAD8A49C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100,000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5CB1C-D2A0-4AE6-8B51-43E6ABE5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ريال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AFDDF-19F1-4C63-9A4C-671E6936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اللعبة + بطولة في مقر الأكاديمية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ED274-5384-4C03-B010-ABC79C4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E859E4-2E84-4E03-A082-C5AB24C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48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917DE6-7272-42D6-A18B-BDA8BF5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جميع مزايا الشراكة التفاعلية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56393-F946-4C8B-A5CE-931B4864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435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EF438C-0798-45C3-BA23-E01279F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إقامة بطولة تفاعلية في مقر الأكاديمية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33505F-C5CF-44D0-A3E1-9DA9DE45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6388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978819-BBD6-4550-A262-BF81025A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81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تجهيز فني وتنسيق مشترك للبطولة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04D825-B445-44A8-867F-DF824598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40E87-632B-4C92-9DF8-8C399B6E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24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975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الأشمل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9C3B73-2C20-499E-8584-A606948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20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الشراكة المتكاملة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C72671-F9CA-4EF4-8CCC-9B7FAB6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24372C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24372C"/>
                </a:solidFill>
                <a:latin typeface="Avenir Next"/>
                <a:ea typeface="Avenir Next"/>
                <a:cs typeface="Avenir Next"/>
              </a:rPr>
              <a:t>150,000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AF45B0-25EF-44EC-9201-46D1023E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861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ريال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3BD20A-86EF-4B05-B0D1-68CB109F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البطولة + التشغيل الإداري + الزي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C12AE3-62B6-4891-837F-0029C14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92F83C-0A33-4E9C-8164-BA5F4E0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648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30B0BE-975C-4F0E-90BD-84B4C5A8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جميع مزايا شراكة البطولة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220BB2-DF09-4D67-87BD-89932031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1435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0692DF-3CED-4A0E-B81B-F930AFE0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برنامج للحجوزات والاشتراكات والحصص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C62FF9-7544-4D61-AD1F-A77F81E5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6388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E77B8B-AF3A-49A3-A630-D7F75446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تصميم وإنتاج 60 قطعة زي حسب اختيار الأكاديمية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54A120-6484-4C0D-8B5C-E7DF8D42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0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جميع الأسعار غير شاملة ضريبة القيمة المضافة.</a:t>
            </a:r>
          </a:p>
        </p:txBody>
      </p:sp>
    </p:spTree>
    <p:extLst>
      <p:ext uri="{BB962C8B-B14F-4D97-AF65-F5344CB8AC3E}">
        <p14:creationId xmlns:p14="http://schemas.microsoft.com/office/powerpoint/2010/main" val="55943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639E3-69F5-4783-90DB-9A8FA949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E867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8E867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76FCD-AC10-4BF8-841C-B6E8A722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768AE-A02A-4D3A-888D-A579771B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E86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E8679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7985D-6E13-40BA-9BCB-F4400A9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838200"/>
            <a:ext cx="584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5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35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شراكة واضحة من اليوم الأول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63845-185B-49AC-8B6D-F7D70289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مسؤوليات محددة تحفظ سرعة التنفيذ وجودة التجربة.</a:t>
            </a:r>
          </a:p>
        </p:txBody>
      </p:sp>
      <p:sp>
        <p:nvSpPr>
          <p:cNvPr id="6" name="team-column">
            <a:extLst xmlns:a="http://schemas.openxmlformats.org/drawingml/2006/main">
              <a:ext uri="{FF2B5EF4-FFF2-40B4-BE49-F238E27FC236}">
                <a16:creationId xmlns:a16="http://schemas.microsoft.com/office/drawing/2014/main" id="{FB0666D0-48F8-4E5C-AF6D-A62DFB1E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219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ademy-column">
            <a:extLst xmlns:a="http://schemas.openxmlformats.org/drawingml/2006/main">
              <a:ext uri="{FF2B5EF4-FFF2-40B4-BE49-F238E27FC236}">
                <a16:creationId xmlns:a16="http://schemas.microsoft.com/office/drawing/2014/main" id="{01210B5B-08D8-478F-B42F-DE68E419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219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C71E5-C27E-49C6-ABDB-CE250673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96287-7D49-494B-A93B-59D0E19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6C435-1B7A-4B11-90F6-46777639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2025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فريق سباق الخيل الإلكتروني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B1801-E7DC-4739-AFD0-A64E44B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2025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الأكاديمية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6605B-5AF7-43EE-B6AA-C499E843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2784F-308F-404A-85C7-5C210E9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تشغيل اللعبة والتفعيل في ميدان الملك خالد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271DF-B843-444D-948A-F2AF04A6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E2432-B15E-4433-85A1-A2FD5734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تطبيق هوية الراعي ضمن العناصر القابلة للتخصيص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0ED74-8002-4581-9E04-00C5B805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767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5C63A-7417-4C71-A00B-44907907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تنسيق بطولة مقر الأكاديمية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FC0E7-659D-46A8-B178-3C14BBE0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43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E7261-FC81-4AD4-A915-B1BDA08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291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توفير جوائز تفعيل الميدان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4BB78-EFC3-4F01-ADB2-EC63181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101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82201-854A-4954-953A-6BA67C7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تسليم البرنامج والزي في الباقة الثالثة بعد اعتماد المتطلبات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1A85F-BEFF-4EF7-B913-0B1DB18B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432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0E7E7-8946-4AC1-9E1E-28A51E92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توفير مقر وفريق التشغيل لبطولة مقرها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9CF78-406A-4322-844D-2FDA2D8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D26D1-55B7-4888-B74E-7F6B59AB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95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توفير الشاشات والجوائز الخاصة ببطولة مقرها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A5922-F441-404D-B7F4-85CB9380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767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573A5-64F9-4C55-A377-E00D740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تزويد الهوية والموافقات اللازمة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A0C8B-A637-472E-B3F9-91F56395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43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649C3E-BA77-4567-8CFB-74768899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291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اعتماد متطلبات البرنامج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A95D9-AD3C-4D7C-9661-B225F32A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0101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81353-3BE8-4E84-A5C5-BEE81F81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95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0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اعتماد استخدام الزي والمقاسات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0C43D-D76A-4AA6-999C-46FFB2D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3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886CB-EAC2-4E9C-A5E2-E02A028B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defRPr>
            </a:pPr>
            <a:r>
              <a:rPr sz="1050" b="0">
                <a:solidFill>
                  <a:srgbClr val="8E8679"/>
                </a:solidFill>
                <a:latin typeface="Qahwa Arabic"/>
                <a:ea typeface="Qahwa Arabic"/>
                <a:cs typeface="Qahwa Arabic"/>
              </a:rPr>
              <a:t>أي رعاية شرفية أو ظهور رسمي يظل مشروطًا باكتمال التوثيق والموافقات الكتابية.</a:t>
            </a:r>
          </a:p>
        </p:txBody>
      </p:sp>
    </p:spTree>
    <p:extLst>
      <p:ext uri="{BB962C8B-B14F-4D97-AF65-F5344CB8AC3E}">
        <p14:creationId xmlns:p14="http://schemas.microsoft.com/office/powerpoint/2010/main" val="280494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f570ee18145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92D13-4122-43EB-A536-CE185F8C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30F">
                  <a:alpha val="96000"/>
                </a:srgbClr>
              </a:gs>
              <a:gs pos="47000">
                <a:srgbClr val="15130F">
                  <a:alpha val="82000"/>
                </a:srgbClr>
              </a:gs>
              <a:gs pos="78000">
                <a:srgbClr val="15130F">
                  <a:alpha val="34000"/>
                </a:srgbClr>
              </a:gs>
              <a:gs pos="100000">
                <a:srgbClr val="15130F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7C237-5EDA-4581-893D-4E0EE68E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8280E-D3CE-4D74-A4F3-0F4C181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D609B-51F2-458B-A838-0A87AD95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7DDC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7DDCC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234FF-5436-4F30-A495-0404B15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5725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9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39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جاهزون للتفعيل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BBF69-8AEB-4A97-BD74-D78A75D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defRPr>
            </a:pPr>
            <a:r>
              <a:rPr sz="1350" b="0">
                <a:solidFill>
                  <a:srgbClr val="B2A38F"/>
                </a:solidFill>
                <a:latin typeface="Qahwa Arabic"/>
                <a:ea typeface="Qahwa Arabic"/>
                <a:cs typeface="Qahwa Arabic"/>
              </a:rPr>
              <a:t>خطوات قصيرة من اختيار الباقة إلى إطلاق التجربة.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F1079-937C-42D4-A49F-F52A9E15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62A7A-A938-4B8F-89AA-3373A052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47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AAFF4-F8C6-43D9-A786-335D807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اختيار الباقة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6405A-BECE-49F1-9AC9-CF4E94A2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468EE-2BC9-438E-92B6-290F62B3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A463D-27A1-4B09-A46F-CF4691F1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47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972E7-50E5-4F60-B0F1-E5B07448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اعتماد النطاق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A1341-92F9-4D83-9FB7-417B77B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40AEA-84A2-4681-B5C4-70C87A50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CF48B-2BFA-49CE-A45E-F65E9968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47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D29AB-80A2-4F4B-A46E-D4CB6B3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تحديد الجدول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F6C1E-5546-4C64-B700-034B3C12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7D5E3A"/>
                </a:solidFill>
                <a:latin typeface="Avenir Next"/>
                <a:ea typeface="Avenir Next"/>
                <a:cs typeface="Avenir Next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07018-F764-48B0-B319-44D42A78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241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C9B26-C36F-410E-8C23-60007E9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A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49E06-35CE-48AD-AC47-89C1DB57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38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defRPr>
            </a:pPr>
            <a:r>
              <a:rPr sz="1500" b="1">
                <a:solidFill>
                  <a:srgbClr val="F2EBDD"/>
                </a:solidFill>
                <a:latin typeface="Qahwa Arabic"/>
                <a:ea typeface="Qahwa Arabic"/>
                <a:cs typeface="Qahwa Arabic"/>
              </a:rPr>
              <a:t>إطلاق التفعيل</a:t>
            </a:r>
          </a:p>
        </p:txBody>
      </p:sp>
      <p:sp>
        <p:nvSpPr>
          <p:cNvPr id="23" name="riyadh-priority">
            <a:extLst xmlns:a="http://schemas.openxmlformats.org/drawingml/2006/main">
              <a:ext uri="{FF2B5EF4-FFF2-40B4-BE49-F238E27FC236}">
                <a16:creationId xmlns:a16="http://schemas.microsoft.com/office/drawing/2014/main" id="{FA04F411-E731-4EF3-88ED-167C97B3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5029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6483D-9021-4CDD-9784-7B3133B5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>
                <a:solidFill>
                  <a:srgbClr val="15130F"/>
                </a:solidFill>
                <a:latin typeface="Qahwa Arabic"/>
                <a:ea typeface="Qahwa Arabic"/>
                <a:cs typeface="Qahwa Arabic"/>
              </a:defRPr>
            </a:pPr>
            <a:r>
              <a:rPr sz="1950" b="1">
                <a:solidFill>
                  <a:srgbClr val="15130F"/>
                </a:solidFill>
                <a:latin typeface="Qahwa Arabic"/>
                <a:ea typeface="Qahwa Arabic"/>
                <a:cs typeface="Qahwa Arabic"/>
              </a:rPr>
              <a:t>أولوية الرعاية في الرياض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54B41-D6DC-402A-BCDD-BA667B13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7D5E3A"/>
                </a:solidFill>
                <a:latin typeface="Qahwa Arabic"/>
                <a:ea typeface="Qahwa Arabic"/>
                <a:cs typeface="Qahwa Arabic"/>
              </a:defRPr>
            </a:pPr>
            <a:r>
              <a:rPr sz="1200" b="0">
                <a:solidFill>
                  <a:srgbClr val="7D5E3A"/>
                </a:solidFill>
                <a:latin typeface="Qahwa Arabic"/>
                <a:ea typeface="Qahwa Arabic"/>
                <a:cs typeface="Qahwa Arabic"/>
              </a:rPr>
              <a:t>تمنح جميع الباقات الراعي حق الأولوية في رعاية اللعبة والبطولة عند تنفيذ الموسم الثاني في الرياض، وفق نطاق واتفاق مستقل.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2DEC6-DDF0-4B42-B01E-D667809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D3123-3F72-4703-A8C6-5F2BF328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2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EBDD"/>
                </a:solidFill>
                <a:latin typeface="Avenir Next"/>
                <a:ea typeface="Avenir Next"/>
                <a:cs typeface="Avenir Next"/>
              </a:rPr>
              <a:t>0537870530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059F8-3EF1-4FF1-A3BD-0DA2ADCA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1A16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1A16A"/>
                </a:solidFill>
                <a:latin typeface="Avenir Next"/>
                <a:ea typeface="Avenir Next"/>
                <a:cs typeface="Avenir Next"/>
              </a:rPr>
              <a:t>ehorseracesa@gmail.com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33596-EFA7-4AF8-8F4B-1995F2E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A38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2A38F"/>
                </a:solidFill>
                <a:latin typeface="Avenir Next"/>
                <a:ea typeface="Avenir Next"/>
                <a:cs typeface="Avenir Next"/>
              </a:rPr>
              <a:t>Electronic Horse Racing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5D6F0-4F98-4680-89CC-3072F93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008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E7DDCC"/>
                </a:solidFill>
                <a:latin typeface="Qahwa Arabic"/>
                <a:ea typeface="Qahwa Arabic"/>
                <a:cs typeface="Qahwa Arabic"/>
              </a:defRPr>
            </a:pPr>
            <a:r>
              <a:rPr sz="1275" b="1">
                <a:solidFill>
                  <a:srgbClr val="E7DDCC"/>
                </a:solidFill>
                <a:latin typeface="Qahwa Arabic"/>
                <a:ea typeface="Qahwa Arabic"/>
                <a:cs typeface="Qahwa Arabic"/>
              </a:rPr>
              <a:t>سباق الخيل الإلكتروني</a:t>
            </a:r>
          </a:p>
        </p:txBody>
      </p:sp>
    </p:spTree>
    <p:extLst>
      <p:ext uri="{BB962C8B-B14F-4D97-AF65-F5344CB8AC3E}">
        <p14:creationId xmlns:p14="http://schemas.microsoft.com/office/powerpoint/2010/main" val="1374065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2026-09-01T22:11:19.8390000Z</dcterms:created>
  <dcterms:modified xsi:type="dcterms:W3CDTF">2026-09-01T22:11:19.8390000Z</dcterms:modified>
</coreProperties>
</file>